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66dcd9d06043aa" /><Relationship Type="http://schemas.openxmlformats.org/officeDocument/2006/relationships/extended-properties" Target="/docProps/app.xml" Id="Rd18c7bb4ce7c430e" /><Relationship Type="http://schemas.openxmlformats.org/officeDocument/2006/relationships/officeDocument" Target="/ppt/presentation.xml" Id="R4f3ea99af35a44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f2370b01ac4806"/>
  </p:sldMasterIdLst>
  <p:notesMasterIdLst>
    <p:notesMasterId xmlns:r="http://schemas.openxmlformats.org/officeDocument/2006/relationships" r:id="R6162c72ac1cc4fde"/>
  </p:notesMasterIdLst>
  <p:sldIdLst>
    <p:sldId xmlns:r="http://schemas.openxmlformats.org/officeDocument/2006/relationships" id="256" r:id="R673beec2819f4e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49ef7d3999432d" /><Relationship Type="http://schemas.openxmlformats.org/officeDocument/2006/relationships/slideMaster" Target="/ppt/slideMasters/slideMaster1.xml" Id="R5cf2370b01ac4806" /><Relationship Type="http://schemas.openxmlformats.org/officeDocument/2006/relationships/notesMaster" Target="/ppt/notesMasters/notesMaster1.xml" Id="R6162c72ac1cc4fde" /><Relationship Type="http://schemas.openxmlformats.org/officeDocument/2006/relationships/presProps" Target="/ppt/presProps.xml" Id="R87ffb1b8ce94452a" /><Relationship Type="http://schemas.openxmlformats.org/officeDocument/2006/relationships/tableStyles" Target="/ppt/tableStyles.xml" Id="R1dc14c093dc24c72" /><Relationship Type="http://schemas.openxmlformats.org/officeDocument/2006/relationships/slide" Target="/ppt/slides/slide1.xml" Id="R673beec2819f4e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51aadc311746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11773c4b984713" /><Relationship Type="http://schemas.openxmlformats.org/officeDocument/2006/relationships/notesMaster" Target="/ppt/notesMasters/notesMaster1.xml" Id="R9dfd833c0f0747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私が研修を通じて最も変わったのは、「分からないこと」への向き合い方です。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前の私は、知らないことに直面すると、自分一人で十分に調べ、安心できる状態になってから動くタイプでした。「時間をかけて調べれば分かることを相手に聞くのは、相手の時間を奪い、迷惑になる」と考えていたためです。そのため、本当に分からないことだけを相談する習慣がついてい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研修中は、さまざまな場面で報告・相談の重要性を繰り返し教えていただきました。しかし、これまでの習慣を変えることは難しく、行動に移せていませんでした。研修後半の専門研修で、期限内に成果物を提出できなかった経験から、もっと早い段階で相談する必要があったと、身をもって気づき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その反省を行動に移したのが、総合演習で取り組んだホームページの刷新です。分からないことが多い中でも、限られた期間で次々と意思決定を行う必要があり、自分一人で考え続ければ、チーム全体の進行を止めてしま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えば、ホームページの画面デザインを作成した際は、知識がなく、何が正解かも分かりませんでした。そこで、まず自分なりの原案を作り、「ここまでは分かっていますが、ここからが分かりません」と、自分の状況を早い段階で共有しました。分からないと伝えること自体にも勇気が必要でしたが、助言を受けながら、短時間で次の行動を決められるようになり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この経験から、仕事では、一人ですべてを解決しようとせず、自分の状況を整理したうえで、早めに相談することが大切だと学びました。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配属後は、自分なりの仮説を持って早めに相談し、そこで得た知識や判断の根拠を吸収することで、自分で判断できる範囲を広げていきたいです。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235f7f53084e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71e9a6097e4e86" /><Relationship Type="http://schemas.openxmlformats.org/officeDocument/2006/relationships/slideLayout" Target="/ppt/slideLayouts/slideLayout1.xml" Id="R05461a35c1644e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461a35c1644e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90ed37d634f77" /><Relationship Type="http://schemas.openxmlformats.org/officeDocument/2006/relationships/notesSlide" Target="/ppt/notesSlides/notesSlide1.xml" Id="R0049f1df18584e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EE86EA76-101B-4C9C-92E2-55CD36D6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635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72635"/>
                </a:solidFill>
                <a:latin typeface="Yu Gothic"/>
                <a:ea typeface="Yu Gothic"/>
                <a:cs typeface="Yu Gothic"/>
              </a:rPr>
              <a:t>研修での挑戦と、配属後の挑戦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A88A160A-A00D-4736-B96E-6FB3A506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0E5"/>
            </a:solidFill>
          </a:ln>
        </p:spPr>
      </p:sp>
      <p:sp>
        <p:nvSpPr>
          <p:cNvPr id="3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AC57C845-5ACA-4BC0-B208-126F9F19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81150"/>
            <a:ext cx="0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E0E5"/>
            </a:solidFill>
          </a:ln>
        </p:spPr>
      </p:sp>
      <p:sp>
        <p:nvSpPr>
          <p:cNvPr id="4" name="left-number">
            <a:extLst xmlns:a="http://schemas.openxmlformats.org/drawingml/2006/main">
              <a:ext uri="{FF2B5EF4-FFF2-40B4-BE49-F238E27FC236}">
                <a16:creationId xmlns:a16="http://schemas.microsoft.com/office/drawing/2014/main" id="{A05E4F07-4A93-4D0C-9029-258CF686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88D52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C88D52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left-heading">
            <a:extLst xmlns:a="http://schemas.openxmlformats.org/drawingml/2006/main">
              <a:ext uri="{FF2B5EF4-FFF2-40B4-BE49-F238E27FC236}">
                <a16:creationId xmlns:a16="http://schemas.microsoft.com/office/drawing/2014/main" id="{10B849D8-316C-4A09-A21B-9D64598F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6536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26536F"/>
                </a:solidFill>
                <a:latin typeface="Yu Gothic"/>
                <a:ea typeface="Yu Gothic"/>
                <a:cs typeface="Yu Gothic"/>
              </a:rPr>
              <a:t>研修での挑戦</a:t>
            </a:r>
          </a:p>
        </p:txBody>
      </p:sp>
      <p:sp>
        <p:nvSpPr>
          <p:cNvPr id="6" name="before-circle">
            <a:extLst xmlns:a="http://schemas.openxmlformats.org/drawingml/2006/main">
              <a:ext uri="{FF2B5EF4-FFF2-40B4-BE49-F238E27FC236}">
                <a16:creationId xmlns:a16="http://schemas.microsoft.com/office/drawing/2014/main" id="{F3578C36-632B-43A6-B38E-ED96F518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194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0E5"/>
            </a:solidFill>
          </a:ln>
        </p:spPr>
      </p:sp>
      <p:sp>
        <p:nvSpPr>
          <p:cNvPr id="7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C6D4C380-1297-42A8-AA6E-EE3D774D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B778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6B7780"/>
                </a:solidFill>
                <a:latin typeface="Yu Gothic"/>
                <a:ea typeface="Yu Gothic"/>
                <a:cs typeface="Yu Gothic"/>
              </a:rPr>
              <a:t>以前</a:t>
            </a:r>
          </a:p>
        </p:txBody>
      </p:sp>
      <p:sp>
        <p:nvSpPr>
          <p:cNvPr id="8" name="before-thought">
            <a:extLst xmlns:a="http://schemas.openxmlformats.org/drawingml/2006/main">
              <a:ext uri="{FF2B5EF4-FFF2-40B4-BE49-F238E27FC236}">
                <a16:creationId xmlns:a16="http://schemas.microsoft.com/office/drawing/2014/main" id="{AC81B6A3-19F4-43F1-8B42-FABA7FD1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724150"/>
            <a:ext cx="4572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43515D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43515D"/>
                </a:solidFill>
                <a:latin typeface="Yu Gothic"/>
                <a:ea typeface="Yu Gothic"/>
                <a:cs typeface="Yu Gothic"/>
              </a:rPr>
              <a:t>調べれば分かることを聞くのは</a:t>
            </a:r>
          </a:p>
          <a:p xmlns:a="http://schemas.openxmlformats.org/drawingml/2006/main">
            <a:pPr algn="l">
              <a:defRPr sz="2550" b="0">
                <a:solidFill>
                  <a:srgbClr val="43515D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43515D"/>
                </a:solidFill>
                <a:latin typeface="Yu Gothic"/>
                <a:ea typeface="Yu Gothic"/>
                <a:cs typeface="Yu Gothic"/>
              </a:rPr>
              <a:t>相手の時間を奪う</a:t>
            </a:r>
          </a:p>
        </p:txBody>
      </p:sp>
      <p:sp>
        <p:nvSpPr>
          <p:cNvPr id="9" name="change-connector">
            <a:extLst xmlns:a="http://schemas.openxmlformats.org/drawingml/2006/main">
              <a:ext uri="{FF2B5EF4-FFF2-40B4-BE49-F238E27FC236}">
                <a16:creationId xmlns:a16="http://schemas.microsoft.com/office/drawing/2014/main" id="{94D1B05D-4237-48A3-BA50-3C39908F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05200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88D52"/>
            </a:solidFill>
          </a:ln>
        </p:spPr>
      </p:sp>
      <p:sp>
        <p:nvSpPr>
          <p:cNvPr id="10" name="exercise-circle">
            <a:extLst xmlns:a="http://schemas.openxmlformats.org/drawingml/2006/main">
              <a:ext uri="{FF2B5EF4-FFF2-40B4-BE49-F238E27FC236}">
                <a16:creationId xmlns:a16="http://schemas.microsoft.com/office/drawing/2014/main" id="{8A67C6E5-A3AE-4165-8C39-4D780030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29075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C88D52"/>
            </a:solidFill>
          </a:ln>
        </p:spPr>
      </p:sp>
      <p:sp>
        <p:nvSpPr>
          <p:cNvPr id="11" name="exercise-label">
            <a:extLst xmlns:a="http://schemas.openxmlformats.org/drawingml/2006/main">
              <a:ext uri="{FF2B5EF4-FFF2-40B4-BE49-F238E27FC236}">
                <a16:creationId xmlns:a16="http://schemas.microsoft.com/office/drawing/2014/main" id="{6202BC3D-D11E-4676-A0BD-BE6C1360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62425"/>
            <a:ext cx="876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88D52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C88D52"/>
                </a:solidFill>
                <a:latin typeface="Yu Gothic"/>
                <a:ea typeface="Yu Gothic"/>
                <a:cs typeface="Yu Gothic"/>
              </a:rPr>
              <a:t>総合</a:t>
            </a:r>
          </a:p>
          <a:p xmlns:a="http://schemas.openxmlformats.org/drawingml/2006/main">
            <a:pPr algn="ctr">
              <a:defRPr sz="2250" b="1">
                <a:solidFill>
                  <a:srgbClr val="C88D52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C88D52"/>
                </a:solidFill>
                <a:latin typeface="Yu Gothic"/>
                <a:ea typeface="Yu Gothic"/>
                <a:cs typeface="Yu Gothic"/>
              </a:rPr>
              <a:t>演習</a:t>
            </a:r>
          </a:p>
        </p:txBody>
      </p:sp>
      <p:sp>
        <p:nvSpPr>
          <p:cNvPr id="12" name="exercise-action">
            <a:extLst xmlns:a="http://schemas.openxmlformats.org/drawingml/2006/main">
              <a:ext uri="{FF2B5EF4-FFF2-40B4-BE49-F238E27FC236}">
                <a16:creationId xmlns:a16="http://schemas.microsoft.com/office/drawing/2014/main" id="{A867ADCF-5501-496C-B3AA-89755C04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43350"/>
            <a:ext cx="45339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635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635"/>
                </a:solidFill>
                <a:latin typeface="Yu Gothic"/>
                <a:ea typeface="Yu Gothic"/>
                <a:cs typeface="Yu Gothic"/>
              </a:rPr>
              <a:t>分からない状態でも</a:t>
            </a:r>
          </a:p>
          <a:p xmlns:a="http://schemas.openxmlformats.org/drawingml/2006/main">
            <a:pPr algn="l">
              <a:defRPr sz="2850" b="1">
                <a:solidFill>
                  <a:srgbClr val="172635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635"/>
                </a:solidFill>
                <a:latin typeface="Yu Gothic"/>
                <a:ea typeface="Yu Gothic"/>
                <a:cs typeface="Yu Gothic"/>
              </a:rPr>
              <a:t>早めに共有する</a:t>
            </a:r>
          </a:p>
        </p:txBody>
      </p:sp>
      <p:sp>
        <p:nvSpPr>
          <p:cNvPr id="13" name="exercise-meaning">
            <a:extLst xmlns:a="http://schemas.openxmlformats.org/drawingml/2006/main">
              <a:ext uri="{FF2B5EF4-FFF2-40B4-BE49-F238E27FC236}">
                <a16:creationId xmlns:a16="http://schemas.microsoft.com/office/drawing/2014/main" id="{0B754E36-F2DC-4CC0-A69D-2CA4BD5D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010150"/>
            <a:ext cx="453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88D52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C88D52"/>
                </a:solidFill>
                <a:latin typeface="Yu Gothic"/>
                <a:ea typeface="Yu Gothic"/>
                <a:cs typeface="Yu Gothic"/>
              </a:rPr>
              <a:t>これまでの習慣と逆の行動 ＝ 挑戦</a:t>
            </a:r>
          </a:p>
        </p:txBody>
      </p:sp>
      <p:sp>
        <p:nvSpPr>
          <p:cNvPr id="14" name="right-number">
            <a:extLst xmlns:a="http://schemas.openxmlformats.org/drawingml/2006/main">
              <a:ext uri="{FF2B5EF4-FFF2-40B4-BE49-F238E27FC236}">
                <a16:creationId xmlns:a16="http://schemas.microsoft.com/office/drawing/2014/main" id="{8EFDC1C3-C096-4795-933E-4EC97AEB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5811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88D52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C88D52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5" name="right-heading">
            <a:extLst xmlns:a="http://schemas.openxmlformats.org/drawingml/2006/main">
              <a:ext uri="{FF2B5EF4-FFF2-40B4-BE49-F238E27FC236}">
                <a16:creationId xmlns:a16="http://schemas.microsoft.com/office/drawing/2014/main" id="{00BFD2E6-45BC-4652-8770-6D637663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7645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6536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26536F"/>
                </a:solidFill>
                <a:latin typeface="Yu Gothic"/>
                <a:ea typeface="Yu Gothic"/>
                <a:cs typeface="Yu Gothic"/>
              </a:rPr>
              <a:t>配属後の挑戦</a:t>
            </a:r>
          </a:p>
        </p:txBody>
      </p:sp>
      <p:sp>
        <p:nvSpPr>
          <p:cNvPr id="16" name="right-main">
            <a:extLst xmlns:a="http://schemas.openxmlformats.org/drawingml/2006/main">
              <a:ext uri="{FF2B5EF4-FFF2-40B4-BE49-F238E27FC236}">
                <a16:creationId xmlns:a16="http://schemas.microsoft.com/office/drawing/2014/main" id="{36FCEFBA-57CB-4531-9ED4-5205445D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33700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635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635"/>
                </a:solidFill>
                <a:latin typeface="Yu Gothic"/>
                <a:ea typeface="Yu Gothic"/>
                <a:cs typeface="Yu Gothic"/>
              </a:rPr>
              <a:t>仮説を持って相談し</a:t>
            </a:r>
          </a:p>
          <a:p xmlns:a="http://schemas.openxmlformats.org/drawingml/2006/main">
            <a:pPr algn="l">
              <a:defRPr sz="2850" b="1">
                <a:solidFill>
                  <a:srgbClr val="172635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72635"/>
                </a:solidFill>
                <a:latin typeface="Yu Gothic"/>
                <a:ea typeface="Yu Gothic"/>
                <a:cs typeface="Yu Gothic"/>
              </a:rPr>
              <a:t>判断できる範囲を広げる</a:t>
            </a:r>
          </a:p>
        </p:txBody>
      </p:sp>
      <p:sp>
        <p:nvSpPr>
          <p:cNvPr id="17" name="right-support">
            <a:extLst xmlns:a="http://schemas.openxmlformats.org/drawingml/2006/main">
              <a:ext uri="{FF2B5EF4-FFF2-40B4-BE49-F238E27FC236}">
                <a16:creationId xmlns:a16="http://schemas.microsoft.com/office/drawing/2014/main" id="{6D1502F8-F388-40F8-A239-B88934D3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43400"/>
            <a:ext cx="3810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3515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43515D"/>
                </a:solidFill>
                <a:latin typeface="Yu Gothic"/>
                <a:ea typeface="Yu Gothic"/>
                <a:cs typeface="Yu Gothic"/>
              </a:rPr>
              <a:t>得た知識と</a:t>
            </a:r>
          </a:p>
          <a:p xmlns:a="http://schemas.openxmlformats.org/drawingml/2006/main">
            <a:pPr algn="l">
              <a:defRPr sz="2250" b="0">
                <a:solidFill>
                  <a:srgbClr val="43515D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43515D"/>
                </a:solidFill>
                <a:latin typeface="Yu Gothic"/>
                <a:ea typeface="Yu Gothic"/>
                <a:cs typeface="Yu Gothic"/>
              </a:rPr>
              <a:t>判断の根拠を吸収する</a:t>
            </a:r>
          </a:p>
        </p:txBody>
      </p:sp>
      <p:sp>
        <p:nvSpPr>
          <p:cNvPr id="18" name="takeaway-band">
            <a:extLst xmlns:a="http://schemas.openxmlformats.org/drawingml/2006/main">
              <a:ext uri="{FF2B5EF4-FFF2-40B4-BE49-F238E27FC236}">
                <a16:creationId xmlns:a16="http://schemas.microsoft.com/office/drawing/2014/main" id="{10F136DD-CFE2-410E-ADE6-D79051C5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6F8"/>
          </a:solidFill>
          <a:ln xmlns:a="http://schemas.openxmlformats.org/drawingml/2006/main" w="0">
            <a:noFill/>
          </a:ln>
        </p:spPr>
      </p:sp>
      <p:sp>
        <p:nvSpPr>
          <p:cNvPr id="19" name="takeaway">
            <a:extLst xmlns:a="http://schemas.openxmlformats.org/drawingml/2006/main">
              <a:ext uri="{FF2B5EF4-FFF2-40B4-BE49-F238E27FC236}">
                <a16:creationId xmlns:a16="http://schemas.microsoft.com/office/drawing/2014/main" id="{1E1AE959-40C5-4B25-AE18-B7F6E246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829300"/>
            <a:ext cx="10134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6536F"/>
                </a:solidFill>
                <a:latin typeface="Yu Gothic"/>
                <a:ea typeface="Yu Gothic"/>
                <a:cs typeface="Yu Gothic"/>
              </a:defRPr>
            </a:pPr>
            <a:r>
              <a:rPr sz="2400" b="1">
                <a:solidFill>
                  <a:srgbClr val="26536F"/>
                </a:solidFill>
                <a:latin typeface="Yu Gothic"/>
                <a:ea typeface="Yu Gothic"/>
                <a:cs typeface="Yu Gothic"/>
              </a:rPr>
              <a:t>早めの相談を、次に自分で判断するための学びにつなげる</a:t>
            </a:r>
          </a:p>
        </p:txBody>
      </p:sp>
    </p:spTree>
    <p:extLst>
      <p:ext uri="{BB962C8B-B14F-4D97-AF65-F5344CB8AC3E}">
        <p14:creationId xmlns:p14="http://schemas.microsoft.com/office/powerpoint/2010/main" val="12292820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2026-09-27T09:03:54.3030000Z</dcterms:created>
  <dcterms:modified xsi:type="dcterms:W3CDTF">2026-09-27T09:03:54.3030000Z</dcterms:modified>
</coreProperties>
</file>